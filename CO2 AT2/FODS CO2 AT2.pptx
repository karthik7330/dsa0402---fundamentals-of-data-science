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73" r:id="rId7"/>
    <p:sldId id="277" r:id="rId8"/>
    <p:sldId id="261" r:id="rId9"/>
    <p:sldId id="262" r:id="rId10"/>
    <p:sldId id="265" r:id="rId11"/>
    <p:sldId id="274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915E3-FA4B-4221-B565-7067A299615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8E6AC-BB70-4F2A-AF8C-E3962DF9E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281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8E6AC-BB70-4F2A-AF8C-E3962DF9E7A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786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6E24F-DCA6-3177-D960-E380DB2B1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A9B91-5A03-34E8-E584-62E2ADE19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619C1-0136-7340-A876-2C383FA4D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A07C5-2919-43C7-0C43-F37D670D2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8E6AC-BB70-4F2A-AF8C-E3962DF9E7A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564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B863E-2D43-1C2B-AA94-7C0A02A10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4496F-66F2-F4F2-83AF-528CC40DE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2267A-42EB-707B-BFE2-C57512143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2D15-59CD-943E-F909-BAC2AC587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8E6AC-BB70-4F2A-AF8C-E3962DF9E7A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498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8E6AC-BB70-4F2A-AF8C-E3962DF9E7A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157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2349" y="461899"/>
            <a:ext cx="252730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10815319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6">
            <a:extLst>
              <a:ext uri="{FF2B5EF4-FFF2-40B4-BE49-F238E27FC236}">
                <a16:creationId xmlns:a16="http://schemas.microsoft.com/office/drawing/2014/main" id="{08A4AE47-D1B8-E55B-0E0F-8776A26FB01E}"/>
              </a:ext>
            </a:extLst>
          </p:cNvPr>
          <p:cNvSpPr txBox="1"/>
          <p:nvPr/>
        </p:nvSpPr>
        <p:spPr>
          <a:xfrm>
            <a:off x="1102360" y="2517045"/>
            <a:ext cx="10255207" cy="674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44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Student Performance Analysis System</a:t>
            </a: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8266D0BC-72AF-E59D-D334-C4539AC617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6012" y="3416808"/>
            <a:ext cx="7419976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DSA0402 - FUNDAMENTALS OF DATA SCIENCE</a:t>
            </a:r>
          </a:p>
        </p:txBody>
      </p:sp>
      <p:pic>
        <p:nvPicPr>
          <p:cNvPr id="14" name="object 6">
            <a:extLst>
              <a:ext uri="{FF2B5EF4-FFF2-40B4-BE49-F238E27FC236}">
                <a16:creationId xmlns:a16="http://schemas.microsoft.com/office/drawing/2014/main" id="{C6100AB6-C3AB-D785-13CF-A7747788062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5240"/>
            <a:ext cx="2204720" cy="1795145"/>
          </a:xfrm>
          <a:prstGeom prst="rect">
            <a:avLst/>
          </a:prstGeom>
        </p:spPr>
      </p:pic>
      <p:pic>
        <p:nvPicPr>
          <p:cNvPr id="15" name="object 7">
            <a:extLst>
              <a:ext uri="{FF2B5EF4-FFF2-40B4-BE49-F238E27FC236}">
                <a16:creationId xmlns:a16="http://schemas.microsoft.com/office/drawing/2014/main" id="{567899D4-A54E-D676-79F1-745D1C6B43E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9855" y="-15240"/>
            <a:ext cx="1891665" cy="1837690"/>
          </a:xfrm>
          <a:prstGeom prst="rect">
            <a:avLst/>
          </a:prstGeom>
        </p:spPr>
      </p:pic>
      <p:sp>
        <p:nvSpPr>
          <p:cNvPr id="16" name="object 2">
            <a:extLst>
              <a:ext uri="{FF2B5EF4-FFF2-40B4-BE49-F238E27FC236}">
                <a16:creationId xmlns:a16="http://schemas.microsoft.com/office/drawing/2014/main" id="{6D7548B8-E351-A83C-7054-61F0878431AF}"/>
              </a:ext>
            </a:extLst>
          </p:cNvPr>
          <p:cNvSpPr txBox="1"/>
          <p:nvPr/>
        </p:nvSpPr>
        <p:spPr>
          <a:xfrm>
            <a:off x="6019800" y="5609510"/>
            <a:ext cx="6860540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735" algn="ctr">
              <a:lnSpc>
                <a:spcPct val="100000"/>
              </a:lnSpc>
              <a:spcBef>
                <a:spcPts val="100"/>
              </a:spcBef>
            </a:pPr>
            <a:r>
              <a:rPr lang="en-IN" sz="2400" b="1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Presented by:</a:t>
            </a:r>
            <a:endParaRPr lang="en-IN" sz="2400" spc="-10" dirty="0">
              <a:solidFill>
                <a:srgbClr val="C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816735" algn="ctr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latin typeface="Times New Roman" panose="02020603050405020304"/>
                <a:cs typeface="Times New Roman" panose="02020603050405020304"/>
              </a:rPr>
              <a:t>Valli Karthik (192324258)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E87B04-AEA9-6E4B-34A8-1FC2F91EB9EC}"/>
              </a:ext>
            </a:extLst>
          </p:cNvPr>
          <p:cNvSpPr txBox="1"/>
          <p:nvPr/>
        </p:nvSpPr>
        <p:spPr>
          <a:xfrm>
            <a:off x="-1300480" y="5569755"/>
            <a:ext cx="7010400" cy="843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16735">
              <a:lnSpc>
                <a:spcPct val="100000"/>
              </a:lnSpc>
              <a:spcBef>
                <a:spcPts val="100"/>
              </a:spcBef>
            </a:pPr>
            <a:r>
              <a:rPr lang="en-IN" sz="2400" b="1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Supervisor</a:t>
            </a:r>
          </a:p>
          <a:p>
            <a:pPr marL="1816735" algn="just">
              <a:lnSpc>
                <a:spcPct val="100000"/>
              </a:lnSpc>
              <a:spcBef>
                <a:spcPts val="100"/>
              </a:spcBef>
            </a:pPr>
            <a:r>
              <a:rPr lang="en-IN" sz="2400" spc="-10" dirty="0">
                <a:latin typeface="Times New Roman" panose="02020603050405020304"/>
                <a:cs typeface="Times New Roman" panose="02020603050405020304"/>
              </a:rPr>
              <a:t>Dr M K Sundaram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492C25C9-6C73-D40B-0A62-BE371A97D019}"/>
              </a:ext>
            </a:extLst>
          </p:cNvPr>
          <p:cNvSpPr txBox="1"/>
          <p:nvPr/>
        </p:nvSpPr>
        <p:spPr>
          <a:xfrm>
            <a:off x="762000" y="908086"/>
            <a:ext cx="10255207" cy="674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44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CO2 AT-2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0" y="461899"/>
            <a:ext cx="46482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4974" y="1676400"/>
            <a:ext cx="10589260" cy="3369191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Colleges store thousands of student records every semester.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manually: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marks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attendance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pass percentage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weak students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2" name="object 3">
            <a:extLst>
              <a:ext uri="{FF2B5EF4-FFF2-40B4-BE49-F238E27FC236}">
                <a16:creationId xmlns:a16="http://schemas.microsoft.com/office/drawing/2014/main" id="{CF81403D-55C1-D538-8C21-9D4FCA0CD2C1}"/>
              </a:ext>
            </a:extLst>
          </p:cNvPr>
          <p:cNvSpPr txBox="1"/>
          <p:nvPr/>
        </p:nvSpPr>
        <p:spPr>
          <a:xfrm>
            <a:off x="688022" y="5213113"/>
            <a:ext cx="10589260" cy="121956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Python-based system that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academic performance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2315" y="209931"/>
            <a:ext cx="564070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509941"/>
            <a:ext cx="10665460" cy="446853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298450" indent="-285750">
              <a:lnSpc>
                <a:spcPct val="150000"/>
              </a:lnSpc>
              <a:spcBef>
                <a:spcPts val="869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endParaRPr lang="en-IN" sz="1650" spc="-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45E280-350F-9199-1FA3-7577EFB1AD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066800"/>
            <a:ext cx="1289668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609600"/>
            <a:ext cx="884034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Libraries</a:t>
            </a:r>
            <a:endParaRPr lang="en-IN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B3D19A-71C5-A9F2-09DE-D6C7A8CCA516}"/>
              </a:ext>
            </a:extLst>
          </p:cNvPr>
          <p:cNvSpPr txBox="1"/>
          <p:nvPr/>
        </p:nvSpPr>
        <p:spPr>
          <a:xfrm>
            <a:off x="685800" y="1752600"/>
            <a:ext cx="10896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the main programming language used to develop the Student Performance Analysis System.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D0B14F-0C4A-F7EE-B561-2493F8C6BD06}"/>
              </a:ext>
            </a:extLst>
          </p:cNvPr>
          <p:cNvSpPr txBox="1"/>
          <p:nvPr/>
        </p:nvSpPr>
        <p:spPr>
          <a:xfrm>
            <a:off x="838200" y="3648456"/>
            <a:ext cx="609447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learn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syntax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source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Machine Learning and Data Science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B5857E-87B5-B470-3BE4-09C5AD75CE8E}"/>
              </a:ext>
            </a:extLst>
          </p:cNvPr>
          <p:cNvSpPr txBox="1"/>
          <p:nvPr/>
        </p:nvSpPr>
        <p:spPr>
          <a:xfrm>
            <a:off x="7772400" y="3786542"/>
            <a:ext cx="35814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Project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student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calculations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conditions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0165" y="461899"/>
            <a:ext cx="701103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Pandas &amp; </a:t>
            </a:r>
            <a:r>
              <a:rPr lang="en-IN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Numpy</a:t>
            </a:r>
            <a:endParaRPr spc="-5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A11EF64-CE7C-034A-44C8-87B9DD3D8C0E}"/>
              </a:ext>
            </a:extLst>
          </p:cNvPr>
          <p:cNvSpPr txBox="1"/>
          <p:nvPr/>
        </p:nvSpPr>
        <p:spPr>
          <a:xfrm>
            <a:off x="1713739" y="1152473"/>
            <a:ext cx="571531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is used for data handling and preprocessing.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Used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head()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drop_duplicates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isnull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Project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CSV file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dataset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data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records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C052B-079D-E8F3-A398-2D4699B34906}"/>
              </a:ext>
            </a:extLst>
          </p:cNvPr>
          <p:cNvSpPr txBox="1"/>
          <p:nvPr/>
        </p:nvSpPr>
        <p:spPr>
          <a:xfrm>
            <a:off x="6781800" y="1219200"/>
            <a:ext cx="54102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performs numerical calculations.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Used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mean()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min()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where() 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Project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average marks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highest mark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lowest mark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Pass/Fail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3E8086-9A2E-2889-E523-7F4561A1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545FF72-61EF-A354-6E7E-D52AA75506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15743" y="517804"/>
            <a:ext cx="853503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A709D4E-69EC-97BB-0781-72764C6A64F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61DE599-6564-6AB8-0695-4502A73B5F2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90D49C2-B351-7371-A9DB-DD133AAADC43}"/>
              </a:ext>
            </a:extLst>
          </p:cNvPr>
          <p:cNvSpPr txBox="1"/>
          <p:nvPr/>
        </p:nvSpPr>
        <p:spPr>
          <a:xfrm>
            <a:off x="838200" y="1752600"/>
            <a:ext cx="3886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Analysis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marks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attendance 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missing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data types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data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dataset ready for analysis.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7A8B18-8A15-DB9B-504A-70C58E0143D7}"/>
              </a:ext>
            </a:extLst>
          </p:cNvPr>
          <p:cNvSpPr txBox="1"/>
          <p:nvPr/>
        </p:nvSpPr>
        <p:spPr>
          <a:xfrm>
            <a:off x="4512373" y="1352489"/>
            <a:ext cx="35052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seaborn as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Read Dataset</a:t>
            </a:r>
          </a:p>
          <a:p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("students.csv")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print("Student Dataset")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-------------------------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Data Preprocessing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-------------------------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print("\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nMissing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Values")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df.isnull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().sum())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Remove Duplicates</a:t>
            </a:r>
          </a:p>
          <a:p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df.drop_duplicates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Add Result Column</a:t>
            </a:r>
          </a:p>
          <a:p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["Result"] =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np.where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["Marks"] &gt;= 50, "Pass", "Fail")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Statistics</a:t>
            </a:r>
          </a:p>
          <a:p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average_marks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np.mean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["Marks"])</a:t>
            </a:r>
          </a:p>
          <a:p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highest_marks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np.max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["Marks"])</a:t>
            </a:r>
          </a:p>
          <a:p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lowest_marks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np.min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["Marks"])</a:t>
            </a:r>
          </a:p>
          <a:p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pass_percentage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["Result"]=="Pass").mean()*100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print("\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nAverage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Marks :",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average_marks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print("Highest Marks :",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highest_marks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print("Lowest Marks :",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lowest_marks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print("Pass Percentage :",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pass_percentage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,"%")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BF2685-379B-3DA0-61A9-148D41C0AC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379" y="2133600"/>
            <a:ext cx="4289934" cy="322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89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096A125-251E-EEFB-4189-80AD521C4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562786-7F52-CD67-B418-01C835829A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06064" y="461899"/>
            <a:ext cx="65843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</a:t>
            </a:r>
            <a:endParaRPr spc="-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1014790-4129-9457-C0F3-2B0C67BF3D1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7241F83-2C98-5560-B96D-914C156E5BB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2D34A5-4AD9-62B0-B491-D2B7678DC8EB}"/>
              </a:ext>
            </a:extLst>
          </p:cNvPr>
          <p:cNvSpPr txBox="1"/>
          <p:nvPr/>
        </p:nvSpPr>
        <p:spPr>
          <a:xfrm>
            <a:off x="1600200" y="1371600"/>
            <a:ext cx="6094476" cy="5366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</a:p>
          <a:p>
            <a:pPr>
              <a:lnSpc>
                <a:spcPct val="15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creates graphical visualizations.</a:t>
            </a:r>
          </a:p>
          <a:p>
            <a:pPr>
              <a:lnSpc>
                <a:spcPct val="15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Used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</a:t>
            </a:r>
          </a:p>
          <a:p>
            <a:pPr>
              <a:lnSpc>
                <a:spcPct val="15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Project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student marks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pass percentage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mark distribution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106E7-D7E6-72AF-6692-D4EC0F74C389}"/>
              </a:ext>
            </a:extLst>
          </p:cNvPr>
          <p:cNvSpPr txBox="1"/>
          <p:nvPr/>
        </p:nvSpPr>
        <p:spPr>
          <a:xfrm>
            <a:off x="6858001" y="1371600"/>
            <a:ext cx="5334000" cy="5366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</a:p>
          <a:p>
            <a:pPr>
              <a:lnSpc>
                <a:spcPct val="15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creates advanced statistical visualizations.</a:t>
            </a:r>
          </a:p>
          <a:p>
            <a:pPr>
              <a:lnSpc>
                <a:spcPct val="15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Used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</a:t>
            </a:r>
          </a:p>
          <a:p>
            <a:pPr>
              <a:lnSpc>
                <a:spcPct val="15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Project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correlation between marks and attendance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graphs more attractive and informative</a:t>
            </a:r>
          </a:p>
        </p:txBody>
      </p:sp>
    </p:spTree>
    <p:extLst>
      <p:ext uri="{BB962C8B-B14F-4D97-AF65-F5344CB8AC3E}">
        <p14:creationId xmlns:p14="http://schemas.microsoft.com/office/powerpoint/2010/main" val="2427286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6064" y="461899"/>
            <a:ext cx="65843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</a:t>
            </a:r>
            <a:endParaRPr spc="-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6F505E-C688-3BA6-223F-273CC9894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1600200"/>
            <a:ext cx="3132276" cy="25058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3C3FB9-5D5B-10E8-5F3C-2C09DF8A0A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732" y="4191000"/>
            <a:ext cx="3449268" cy="24637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AEEBA8-8C2E-06BA-01ED-C4D03967BB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169" y="4191000"/>
            <a:ext cx="2895606" cy="25527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3B56AD-564E-4A64-5B2A-796EC3C58E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90" y="1779861"/>
            <a:ext cx="3592104" cy="22450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9776F0-0A1D-0357-D3C4-C246BB5A4428}"/>
              </a:ext>
            </a:extLst>
          </p:cNvPr>
          <p:cNvSpPr txBox="1"/>
          <p:nvPr/>
        </p:nvSpPr>
        <p:spPr>
          <a:xfrm>
            <a:off x="4707426" y="2720821"/>
            <a:ext cx="1066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 Chart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B3CEB9-049F-F28E-1266-75B1D9166D7F}"/>
              </a:ext>
            </a:extLst>
          </p:cNvPr>
          <p:cNvSpPr txBox="1"/>
          <p:nvPr/>
        </p:nvSpPr>
        <p:spPr>
          <a:xfrm>
            <a:off x="6709871" y="2726655"/>
            <a:ext cx="1228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Heat Map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A48A7E-7C44-FC4B-1695-5DA64488BE4E}"/>
              </a:ext>
            </a:extLst>
          </p:cNvPr>
          <p:cNvSpPr txBox="1"/>
          <p:nvPr/>
        </p:nvSpPr>
        <p:spPr>
          <a:xfrm>
            <a:off x="7077365" y="5306929"/>
            <a:ext cx="107603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Pie Chart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2304E8-B229-14D3-20AC-9EA576BD86E5}"/>
              </a:ext>
            </a:extLst>
          </p:cNvPr>
          <p:cNvSpPr txBox="1"/>
          <p:nvPr/>
        </p:nvSpPr>
        <p:spPr>
          <a:xfrm>
            <a:off x="4604659" y="5293341"/>
            <a:ext cx="1256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Histograph</a:t>
            </a:r>
            <a:r>
              <a:rPr lang="en-US" dirty="0"/>
              <a:t> Chart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0" y="517804"/>
            <a:ext cx="685812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Advantages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28B6F03-C2B2-7C45-8365-B43A9891FE32}"/>
              </a:ext>
            </a:extLst>
          </p:cNvPr>
          <p:cNvSpPr txBox="1"/>
          <p:nvPr/>
        </p:nvSpPr>
        <p:spPr>
          <a:xfrm>
            <a:off x="5486401" y="3886200"/>
            <a:ext cx="6705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student performance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calculation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teachers'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through graphs and charts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students needing academic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better academic decision-making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D85138-1CEC-7D0E-6014-9DAA73D909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445" r="50265"/>
          <a:stretch>
            <a:fillRect/>
          </a:stretch>
        </p:blipFill>
        <p:spPr>
          <a:xfrm>
            <a:off x="609600" y="3988778"/>
            <a:ext cx="4419600" cy="25750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6FD7ED-94E4-3D0F-969B-4A8656E77655}"/>
              </a:ext>
            </a:extLst>
          </p:cNvPr>
          <p:cNvSpPr txBox="1"/>
          <p:nvPr/>
        </p:nvSpPr>
        <p:spPr>
          <a:xfrm>
            <a:off x="609599" y="1905000"/>
            <a:ext cx="1142466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with higher attendance generally scored better marks.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students passed and 3 students failed.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made it easy to identify top-performing and low-performing students.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generated accurate statistics within seconds.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2573" y="461899"/>
            <a:ext cx="30048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pc="-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1410811"/>
            <a:ext cx="11049000" cy="3923189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Performance Analysis System demonstrates how Python and its data science libraries can efficiently analyze student academic data.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this project: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was used to develop the application.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and NumPy simplified data preprocessing and numerical analysis.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 created meaningful visualizations.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identified student performance, attendance trends, and pass percentage.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 help teachers make better academic decisions.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A213A5-ACF1-897C-913B-98A696B56683}"/>
              </a:ext>
            </a:extLst>
          </p:cNvPr>
          <p:cNvSpPr txBox="1"/>
          <p:nvPr/>
        </p:nvSpPr>
        <p:spPr>
          <a:xfrm>
            <a:off x="685800" y="4842808"/>
            <a:ext cx="8686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student performance using Machine Learning.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dashboard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system to a real-time student database.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automatic performance reports to students and parents.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77974-0C8E-E68F-9820-B37488C3D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6F491F9F-FEF8-4602-A830-88AEDAF0EF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1766" y="643466"/>
            <a:ext cx="752846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13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1498</TotalTime>
  <Words>663</Words>
  <Application>Microsoft Office PowerPoint</Application>
  <PresentationFormat>Widescreen</PresentationFormat>
  <Paragraphs>168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DSA0402 - FUNDAMENTALS OF DATA SCIENCE</vt:lpstr>
      <vt:lpstr>Problem Statement</vt:lpstr>
      <vt:lpstr>System Workflow</vt:lpstr>
      <vt:lpstr>Explanation of Libraries</vt:lpstr>
      <vt:lpstr>Pandas &amp; Numpy</vt:lpstr>
      <vt:lpstr>Data Preprocessing</vt:lpstr>
      <vt:lpstr>Matplotlib and Seaborn</vt:lpstr>
      <vt:lpstr>Matplotlib and Seaborn</vt:lpstr>
      <vt:lpstr>Results &amp; Advantages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Karthik Valli</cp:lastModifiedBy>
  <cp:revision>42</cp:revision>
  <dcterms:created xsi:type="dcterms:W3CDTF">2025-03-19T13:35:36Z</dcterms:created>
  <dcterms:modified xsi:type="dcterms:W3CDTF">2026-07-25T16:14:13Z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2025-03-19T00:00:00Z</vt:filetime>
  </property>
</Properties>
</file>